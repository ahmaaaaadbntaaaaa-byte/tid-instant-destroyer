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905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5652" y="771525"/>
            <a:ext cx="1647825" cy="4763"/>
          </a:xfrm>
          <a:prstGeom prst="rect">
            <a:avLst/>
          </a:prstGeom>
          <a:solidFill>
            <a:srgbClr val="D4A017">
              <a:alpha val="2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407747" y="772455"/>
            <a:ext cx="4763" cy="409575"/>
          </a:xfrm>
          <a:prstGeom prst="rect">
            <a:avLst/>
          </a:prstGeom>
          <a:solidFill>
            <a:srgbClr val="D4A017">
              <a:alpha val="2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15330" y="4212952"/>
            <a:ext cx="1095375" cy="4763"/>
          </a:xfrm>
          <a:prstGeom prst="rect">
            <a:avLst/>
          </a:prstGeom>
          <a:solidFill>
            <a:srgbClr val="D4A017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097" y="309339"/>
            <a:ext cx="12858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D4A017"/>
                </a:solidFill>
                <a:highlight>
                  <a:srgbClr val="D4A017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v2.0 —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76600" y="1209452"/>
            <a:ext cx="25908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INSTANT DESTROYER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00463" y="1518493"/>
            <a:ext cx="1743075" cy="1095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0"/>
              </a:lnSpc>
              <a:spcAft>
                <a:spcPts val="607"/>
              </a:spcAft>
              <a:buNone/>
            </a:pPr>
            <a:r>
              <a:rPr lang="en-US" sz="86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</a:t>
            </a:r>
            <a:endParaRPr lang="en-US" sz="8600" dirty="0"/>
          </a:p>
        </p:txBody>
      </p:sp>
      <p:sp>
        <p:nvSpPr>
          <p:cNvPr id="11" name="Text 8"/>
          <p:cNvSpPr/>
          <p:nvPr/>
        </p:nvSpPr>
        <p:spPr>
          <a:xfrm>
            <a:off x="1633575" y="2692301"/>
            <a:ext cx="5876925" cy="438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56"/>
              </a:lnSpc>
              <a:spcAft>
                <a:spcPts val="486"/>
              </a:spcAft>
              <a:buNone/>
            </a:pPr>
            <a:r>
              <a:rPr lang="en-US" sz="23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Diagrams — Complete Visual Reference</a:t>
            </a:r>
            <a:endParaRPr lang="en-US" sz="2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3295352"/>
            <a:ext cx="1828800" cy="95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8381" y="3408425"/>
            <a:ext cx="456723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2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Physical destruction of sensitive data from memory and cache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74131" y="3671776"/>
            <a:ext cx="3995737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2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Linux Kernel Module — Highest software-level security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748064"/>
            <a:ext cx="9144000" cy="395287"/>
          </a:xfrm>
          <a:prstGeom prst="rect">
            <a:avLst/>
          </a:prstGeom>
          <a:solidFill>
            <a:srgbClr val="1B3A6B">
              <a:alpha val="4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538912" y="4845695"/>
            <a:ext cx="21478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3919" y="4850457"/>
            <a:ext cx="19954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ORCID: </a:t>
            </a:r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0009-0001-4360-0802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6419" y="4852839"/>
            <a:ext cx="22288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EPYC 9B14 — Linux 6.14.11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748064"/>
            <a:ext cx="9144000" cy="3952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7962900" y="307777"/>
            <a:ext cx="723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316845" y="205383"/>
            <a:ext cx="41814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1 — TID System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26" y="300633"/>
            <a:ext cx="3952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/ 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04093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24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Operation flow from the application layer down to main memory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05175" y="822164"/>
            <a:ext cx="1933575" cy="342900"/>
          </a:xfrm>
          <a:prstGeom prst="roundRect">
            <a:avLst>
              <a:gd name="adj" fmla="val 5556"/>
            </a:avLst>
          </a:prstGeom>
          <a:solidFill>
            <a:srgbClr val="1B3A6B"/>
          </a:solidFill>
          <a:ln w="9525">
            <a:solidFill>
              <a:srgbClr val="2E4F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Application (App)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88913"/>
            <a:ext cx="73152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Bef>
                <a:spcPts val="203"/>
              </a:spcBef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Password / Encryption Key / Sensitive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3300" y="1431727"/>
            <a:ext cx="1457325" cy="214313"/>
          </a:xfrm>
          <a:prstGeom prst="roundRect">
            <a:avLst>
              <a:gd name="adj" fmla="val 7111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ioctl()</a:t>
            </a:r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System Call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47081"/>
            <a:ext cx="73152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4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1905893"/>
            <a:ext cx="7315200" cy="1609725"/>
          </a:xfrm>
          <a:prstGeom prst="roundRect">
            <a:avLst>
              <a:gd name="adj" fmla="val 1344"/>
            </a:avLst>
          </a:prstGeom>
          <a:solidFill>
            <a:srgbClr val="2E4F8A">
              <a:alpha val="35000"/>
            </a:srgbClr>
          </a:solidFill>
          <a:ln w="9525">
            <a:solidFill>
              <a:srgbClr val="2E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7281" y="2018928"/>
            <a:ext cx="6929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607"/>
              </a:spcAft>
              <a:buNone/>
            </a:pPr>
            <a:r>
              <a:rPr lang="en-US" sz="10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Kernel Module — Linux Kernel Module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08700" y="2300064"/>
            <a:ext cx="1062038" cy="581025"/>
          </a:xfrm>
          <a:prstGeom prst="roundRect">
            <a:avLst>
              <a:gd name="adj" fmla="val 6450"/>
            </a:avLst>
          </a:prstGeom>
          <a:solidFill>
            <a:srgbClr val="1B3A6B">
              <a:alpha val="70000"/>
            </a:srgbClr>
          </a:solidFill>
          <a:ln w="4763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9193" y="2358442"/>
            <a:ext cx="781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49193" y="2534915"/>
            <a:ext cx="7810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Execution Barrier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749193" y="2686087"/>
            <a:ext cx="7810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~40ns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287380" y="2466752"/>
            <a:ext cx="13811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70672" y="2300064"/>
            <a:ext cx="1033462" cy="581025"/>
          </a:xfrm>
          <a:prstGeom prst="roundRect">
            <a:avLst>
              <a:gd name="adj" fmla="val 6450"/>
            </a:avLst>
          </a:prstGeom>
          <a:solidFill>
            <a:srgbClr val="1B3A6B">
              <a:alpha val="70000"/>
            </a:srgbClr>
          </a:solidFill>
          <a:ln w="4763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1166" y="2358442"/>
            <a:ext cx="7524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 STOSQ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11166" y="2534915"/>
            <a:ext cx="7524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Zero-fill Memory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11166" y="2686087"/>
            <a:ext cx="7524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~50ns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749315" y="2466752"/>
            <a:ext cx="13811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72035" y="2300064"/>
            <a:ext cx="1095375" cy="581025"/>
          </a:xfrm>
          <a:prstGeom prst="roundRect">
            <a:avLst>
              <a:gd name="adj" fmla="val 6450"/>
            </a:avLst>
          </a:prstGeom>
          <a:solidFill>
            <a:srgbClr val="1B3A6B">
              <a:alpha val="70000"/>
            </a:srgbClr>
          </a:solidFill>
          <a:ln w="4763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4910" y="2358442"/>
            <a:ext cx="8096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CLFLUSHOPT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14910" y="2534915"/>
            <a:ext cx="8096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Flush Cache Lines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14910" y="2686087"/>
            <a:ext cx="8096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~130ns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07281" y="2957438"/>
            <a:ext cx="6929438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556" y="3163788"/>
            <a:ext cx="3290887" cy="238125"/>
          </a:xfrm>
          <a:prstGeom prst="roundRect">
            <a:avLst>
              <a:gd name="adj" fmla="val 7680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5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MFENCE + LFENCE</a:t>
            </a:r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Guarantee completion of all operations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1601" y="3591781"/>
            <a:ext cx="1095375" cy="442913"/>
          </a:xfrm>
          <a:prstGeom prst="roundRect">
            <a:avLst>
              <a:gd name="adj" fmla="val 2775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7338" y="3649675"/>
            <a:ext cx="7239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 Cache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7338" y="3826148"/>
            <a:ext cx="723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Empty 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710075" y="3591781"/>
            <a:ext cx="1095375" cy="442913"/>
          </a:xfrm>
          <a:prstGeom prst="roundRect">
            <a:avLst>
              <a:gd name="adj" fmla="val 2775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5813" y="3649675"/>
            <a:ext cx="7239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Cache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5813" y="3826148"/>
            <a:ext cx="723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Empty ✓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38550" y="3591781"/>
            <a:ext cx="1095375" cy="442913"/>
          </a:xfrm>
          <a:prstGeom prst="roundRect">
            <a:avLst>
              <a:gd name="adj" fmla="val 2775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4287" y="3649675"/>
            <a:ext cx="7239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Cache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24287" y="3826148"/>
            <a:ext cx="723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Empty 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967024" y="3591781"/>
            <a:ext cx="1095375" cy="442913"/>
          </a:xfrm>
          <a:prstGeom prst="roundRect">
            <a:avLst>
              <a:gd name="adj" fmla="val 2775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52762" y="3649675"/>
            <a:ext cx="7239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52762" y="3826148"/>
            <a:ext cx="7239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Zeroed ✓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43" name="Text 41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2 — PROTECT+ZERO Protocol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Sensitive data lifecycle — three phases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58024" y="823094"/>
            <a:ext cx="1862137" cy="1966912"/>
          </a:xfrm>
          <a:prstGeom prst="roundRect">
            <a:avLst>
              <a:gd name="adj" fmla="val 1005"/>
            </a:avLst>
          </a:prstGeom>
          <a:solidFill>
            <a:srgbClr val="1B3A6B">
              <a:alpha val="40000"/>
            </a:srgbClr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6643" y="935757"/>
            <a:ext cx="1104900" cy="204787"/>
          </a:xfrm>
          <a:prstGeom prst="roundRect">
            <a:avLst>
              <a:gd name="adj" fmla="val 10384"/>
            </a:avLst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96"/>
              </a:lnSpc>
              <a:spcAft>
                <a:spcPts val="324"/>
              </a:spcAft>
              <a:buNone/>
            </a:pPr>
            <a:r>
              <a:rPr lang="en-US" sz="8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PROTECT Phase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48524" y="1181026"/>
            <a:ext cx="14811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Before data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648524" y="1422871"/>
            <a:ext cx="1481137" cy="414338"/>
          </a:xfrm>
          <a:prstGeom prst="roundRect">
            <a:avLst>
              <a:gd name="adj" fmla="val 2537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Block speculative execution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48524" y="1876499"/>
            <a:ext cx="1481137" cy="414338"/>
          </a:xfrm>
          <a:prstGeom prst="roundRect">
            <a:avLst>
              <a:gd name="adj" fmla="val 2537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MFENCE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Ensure prior writes complete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96248" y="1635100"/>
            <a:ext cx="1905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62760" y="823094"/>
            <a:ext cx="1862137" cy="1966912"/>
          </a:xfrm>
          <a:prstGeom prst="roundRect">
            <a:avLst>
              <a:gd name="adj" fmla="val 1005"/>
            </a:avLst>
          </a:prstGeom>
          <a:solidFill>
            <a:srgbClr val="C0392B">
              <a:alpha val="15000"/>
            </a:srgbClr>
          </a:solidFill>
          <a:ln w="9525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5203" y="935757"/>
            <a:ext cx="857250" cy="204787"/>
          </a:xfrm>
          <a:prstGeom prst="roundRect">
            <a:avLst>
              <a:gd name="adj" fmla="val 10384"/>
            </a:avLst>
          </a:prstGeom>
          <a:solidFill>
            <a:srgbClr val="C0392B">
              <a:alpha val="3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96"/>
              </a:lnSpc>
              <a:spcAft>
                <a:spcPts val="324"/>
              </a:spcAft>
              <a:buNone/>
            </a:pPr>
            <a:r>
              <a:rPr lang="en-US" sz="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Data in Use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3260" y="1181026"/>
            <a:ext cx="14811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Key / Password / 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53260" y="1500374"/>
            <a:ext cx="1481137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7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 Window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053260" y="1712751"/>
            <a:ext cx="1481137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372</a:t>
            </a:r>
            <a:pPr algn="ctr" indent="0" marL="0">
              <a:lnSpc>
                <a:spcPts val="1944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ns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053260" y="2233612"/>
            <a:ext cx="148113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Bef>
                <a:spcPts val="324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Physical hardware minimum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400983" y="1635100"/>
            <a:ext cx="1905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1792" y="823094"/>
            <a:ext cx="2309813" cy="1966912"/>
          </a:xfrm>
          <a:prstGeom prst="roundRect">
            <a:avLst>
              <a:gd name="adj" fmla="val 901"/>
            </a:avLst>
          </a:prstGeom>
          <a:solidFill>
            <a:srgbClr val="27AE60">
              <a:alpha val="10000"/>
            </a:srgbClr>
          </a:solidFill>
          <a:ln w="9525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6642" y="935757"/>
            <a:ext cx="900113" cy="204787"/>
          </a:xfrm>
          <a:prstGeom prst="roundRect">
            <a:avLst>
              <a:gd name="adj" fmla="val 10384"/>
            </a:avLst>
          </a:prstGeom>
          <a:solidFill>
            <a:srgbClr val="27AE60">
              <a:alpha val="2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96"/>
              </a:lnSpc>
              <a:spcAft>
                <a:spcPts val="324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ZERO Phase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4673" y="1181026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After data use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14673" y="1422871"/>
            <a:ext cx="1924050" cy="223838"/>
          </a:xfrm>
          <a:prstGeom prst="roundRect">
            <a:avLst>
              <a:gd name="adj" fmla="val 8692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Block speculation again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14673" y="1680865"/>
            <a:ext cx="1924050" cy="223838"/>
          </a:xfrm>
          <a:prstGeom prst="roundRect">
            <a:avLst>
              <a:gd name="adj" fmla="val 8692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Write zeros to memory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 STOSQ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14673" y="1938858"/>
            <a:ext cx="1924050" cy="223838"/>
          </a:xfrm>
          <a:prstGeom prst="roundRect">
            <a:avLst>
              <a:gd name="adj" fmla="val 8692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Evict cache L1+L2+L3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CLFLUSHOPT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14673" y="2196852"/>
            <a:ext cx="1924050" cy="223838"/>
          </a:xfrm>
          <a:prstGeom prst="roundRect">
            <a:avLst>
              <a:gd name="adj" fmla="val 8692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Ensure flush completion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MFENCE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14673" y="2454846"/>
            <a:ext cx="1924050" cy="223838"/>
          </a:xfrm>
          <a:prstGeom prst="roundRect">
            <a:avLst>
              <a:gd name="adj" fmla="val 8692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Close the second side</a:t>
            </a:r>
            <a:pPr algn="l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23913" y="4389648"/>
            <a:ext cx="7496175" cy="342900"/>
          </a:xfrm>
          <a:prstGeom prst="roundRect">
            <a:avLst>
              <a:gd name="adj" fmla="val 5556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0732" y="4472992"/>
            <a:ext cx="10191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Memory is clean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19316" y="4484898"/>
            <a:ext cx="4763" cy="152400"/>
          </a:xfrm>
          <a:prstGeom prst="rect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78498" y="4472992"/>
            <a:ext cx="11144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Cache fully empty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47343" y="4484898"/>
            <a:ext cx="4763" cy="152400"/>
          </a:xfrm>
          <a:prstGeom prst="rect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73684" y="4472992"/>
            <a:ext cx="13477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Attacker finds nothing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35" name="Text 33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3 — Attack Timeline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window: </a:t>
            </a:r>
            <a:pPr algn="ctr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372ns</a:t>
            </a:r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— Attacker measurement interval: </a:t>
            </a:r>
            <a:pPr algn="ctr" indent="0" marL="0">
              <a:lnSpc>
                <a:spcPts val="1512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2990" y="821903"/>
            <a:ext cx="1809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299089" y="821903"/>
            <a:ext cx="2428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50ns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217258" y="821903"/>
            <a:ext cx="3000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33863" y="821903"/>
            <a:ext cx="3000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180ns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50469" y="821903"/>
            <a:ext cx="3000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260ns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67075" y="821903"/>
            <a:ext cx="3000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83680" y="821903"/>
            <a:ext cx="3000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340ns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39663" y="821903"/>
            <a:ext cx="4619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372ns 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7688" y="1028440"/>
            <a:ext cx="8048625" cy="671513"/>
          </a:xfrm>
          <a:prstGeom prst="roundRect">
            <a:avLst>
              <a:gd name="adj" fmla="val 5794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319" y="1096082"/>
            <a:ext cx="78533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405"/>
              </a:spcAft>
              <a:buNone/>
            </a:pPr>
            <a:r>
              <a:rPr lang="en-US" sz="9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executing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74186" y="1324235"/>
            <a:ext cx="1023937" cy="309562"/>
          </a:xfrm>
          <a:prstGeom prst="roundRect">
            <a:avLst>
              <a:gd name="adj" fmla="val 3408"/>
            </a:avLst>
          </a:prstGeom>
          <a:solidFill>
            <a:srgbClr val="D4A017">
              <a:alpha val="25000"/>
            </a:srgbClr>
          </a:solidFill>
          <a:ln w="4763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1848" y="1348197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888560" y="1485640"/>
            <a:ext cx="1952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40ns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6146750" y="1324235"/>
            <a:ext cx="1281112" cy="309562"/>
          </a:xfrm>
          <a:prstGeom prst="roundRect">
            <a:avLst>
              <a:gd name="adj" fmla="val 3408"/>
            </a:avLst>
          </a:prstGeom>
          <a:solidFill>
            <a:srgbClr val="D4A017">
              <a:alpha val="2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9657" y="1348197"/>
            <a:ext cx="4953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 STOSQ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689675" y="1485640"/>
            <a:ext cx="1952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50ns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787514" y="1324235"/>
            <a:ext cx="3314700" cy="309562"/>
          </a:xfrm>
          <a:prstGeom prst="roundRect">
            <a:avLst>
              <a:gd name="adj" fmla="val 3408"/>
            </a:avLst>
          </a:prstGeom>
          <a:solidFill>
            <a:srgbClr val="D4A017">
              <a:alpha val="15000"/>
            </a:srgbClr>
          </a:solidFill>
          <a:ln w="4763">
            <a:solidFill>
              <a:srgbClr val="D4A017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71057" y="1348197"/>
            <a:ext cx="5476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CLFLUSHOPT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97263" y="1485640"/>
            <a:ext cx="2952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~130ns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1717514" y="1324235"/>
            <a:ext cx="1023937" cy="309562"/>
          </a:xfrm>
          <a:prstGeom prst="roundRect">
            <a:avLst>
              <a:gd name="adj" fmla="val 3408"/>
            </a:avLst>
          </a:prstGeom>
          <a:solidFill>
            <a:srgbClr val="D4A017">
              <a:alpha val="2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5176" y="1348197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MFENCE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131888" y="1485640"/>
            <a:ext cx="1952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40ns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45728" y="1324235"/>
            <a:ext cx="1023937" cy="309562"/>
          </a:xfrm>
          <a:prstGeom prst="roundRect">
            <a:avLst>
              <a:gd name="adj" fmla="val 3408"/>
            </a:avLst>
          </a:prstGeom>
          <a:solidFill>
            <a:srgbClr val="D4A017">
              <a:alpha val="2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391" y="1348197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60103" y="1485640"/>
            <a:ext cx="1952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40ns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47688" y="1776673"/>
            <a:ext cx="8048625" cy="671513"/>
          </a:xfrm>
          <a:prstGeom prst="roundRect">
            <a:avLst>
              <a:gd name="adj" fmla="val 5794"/>
            </a:avLst>
          </a:prstGeom>
          <a:solidFill>
            <a:srgbClr val="C0392B">
              <a:alpha val="10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319" y="1844315"/>
            <a:ext cx="78533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spcAft>
                <a:spcPts val="405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attempting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8748" y="2072469"/>
            <a:ext cx="2319337" cy="309562"/>
          </a:xfrm>
          <a:prstGeom prst="roundRect">
            <a:avLst>
              <a:gd name="adj" fmla="val 3408"/>
            </a:avLst>
          </a:prstGeom>
          <a:solidFill>
            <a:srgbClr val="C0392B">
              <a:alpha val="2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4111" y="2096430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214629" y="2233873"/>
            <a:ext cx="2476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112ns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3811488" y="2072469"/>
            <a:ext cx="2319337" cy="309562"/>
          </a:xfrm>
          <a:prstGeom prst="roundRect">
            <a:avLst>
              <a:gd name="adj" fmla="val 3408"/>
            </a:avLst>
          </a:prstGeom>
          <a:solidFill>
            <a:srgbClr val="C0392B">
              <a:alpha val="2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6851" y="2096430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47369" y="2233873"/>
            <a:ext cx="2476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112ns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444228" y="2072469"/>
            <a:ext cx="2319337" cy="309562"/>
          </a:xfrm>
          <a:prstGeom prst="roundRect">
            <a:avLst>
              <a:gd name="adj" fmla="val 3408"/>
            </a:avLst>
          </a:prstGeom>
          <a:solidFill>
            <a:srgbClr val="C0392B">
              <a:alpha val="2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9591" y="2096430"/>
            <a:ext cx="328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480109" y="2233873"/>
            <a:ext cx="2476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112ns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44835" y="2072469"/>
            <a:ext cx="752475" cy="309562"/>
          </a:xfrm>
          <a:prstGeom prst="roundRect">
            <a:avLst>
              <a:gd name="adj" fmla="val 3408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041" y="2165338"/>
            <a:ext cx="50006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Finds nothing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547688" y="2526209"/>
            <a:ext cx="8048625" cy="723900"/>
          </a:xfrm>
          <a:prstGeom prst="roundRect">
            <a:avLst>
              <a:gd name="adj" fmla="val 4986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1158" y="2720429"/>
            <a:ext cx="8667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measures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241158" y="2873090"/>
            <a:ext cx="866775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Gets </a:t>
            </a:r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286</a:t>
            </a:r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cycles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27862" y="2785765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24797" y="2722811"/>
            <a:ext cx="100488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state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924797" y="2875471"/>
            <a:ext cx="100488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Completely empty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12320" y="2785765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85170" y="2722811"/>
            <a:ext cx="8286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Result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785170" y="2875471"/>
            <a:ext cx="8286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 failed 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072394" y="2785765"/>
            <a:ext cx="11430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→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5844" y="2606204"/>
            <a:ext cx="4381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Ratio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035844" y="2756929"/>
            <a:ext cx="43815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3.7×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35844" y="3031741"/>
            <a:ext cx="438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286 ÷ 78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59" name="Text 57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4 — Cache Comparison: Before and After TID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Three scenarios — No protection / TID v1 / TID v2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4716" y="770483"/>
            <a:ext cx="1281112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59226" y="770483"/>
            <a:ext cx="2119312" cy="295275"/>
          </a:xfrm>
          <a:prstGeom prst="roundRect">
            <a:avLst>
              <a:gd name="adj" fmla="val 7492"/>
            </a:avLst>
          </a:prstGeom>
          <a:solidFill>
            <a:srgbClr val="C0392B">
              <a:alpha val="20000"/>
            </a:srgbClr>
          </a:solidFill>
          <a:ln w="9525">
            <a:solidFill>
              <a:srgbClr val="C0392B">
                <a:alpha val="6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No TID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03736" y="770483"/>
            <a:ext cx="2119312" cy="295275"/>
          </a:xfrm>
          <a:prstGeom prst="roundRect">
            <a:avLst>
              <a:gd name="adj" fmla="val 7492"/>
            </a:avLst>
          </a:prstGeom>
          <a:solidFill>
            <a:srgbClr val="D4A017">
              <a:alpha val="10000"/>
            </a:srgbClr>
          </a:solidFill>
          <a:ln w="9525">
            <a:solidFill>
              <a:srgbClr val="D4A017">
                <a:alpha val="5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⚠ TID v1.0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246" y="770483"/>
            <a:ext cx="2119312" cy="295275"/>
          </a:xfrm>
          <a:prstGeom prst="roundRect">
            <a:avLst>
              <a:gd name="adj" fmla="val 7492"/>
            </a:avLst>
          </a:prstGeom>
          <a:solidFill>
            <a:srgbClr val="27AE60">
              <a:alpha val="15000"/>
            </a:srgbClr>
          </a:solidFill>
          <a:ln w="9525">
            <a:solidFill>
              <a:srgbClr val="27AE60">
                <a:alpha val="6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TID v2.0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4716" y="1127522"/>
            <a:ext cx="1281112" cy="295275"/>
          </a:xfrm>
          <a:prstGeom prst="roundRect">
            <a:avLst>
              <a:gd name="adj" fmla="val 4995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 Cache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59226" y="1127522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6857" y="1191816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0xAB... (key present)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03736" y="1127522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1367" y="1191816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0xAB... (key present)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246" y="1127522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877" y="1191816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░░░░ (fully empty)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4716" y="1476449"/>
            <a:ext cx="1281112" cy="295275"/>
          </a:xfrm>
          <a:prstGeom prst="roundRect">
            <a:avLst>
              <a:gd name="adj" fmla="val 4995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Cache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59226" y="1476449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6857" y="1540743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0xAB... (key present)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03736" y="1476449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1367" y="1540743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0xAB... (key present)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246" y="1476449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877" y="1540743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░░░░ (fully empty)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4716" y="1825377"/>
            <a:ext cx="1281112" cy="295275"/>
          </a:xfrm>
          <a:prstGeom prst="roundRect">
            <a:avLst>
              <a:gd name="adj" fmla="val 4995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Cache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59226" y="1825377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6857" y="1889671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0xAB... (key present)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03736" y="1825377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1367" y="1889671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Zeroed (partial wipe)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246" y="1825377"/>
            <a:ext cx="2119312" cy="295275"/>
          </a:xfrm>
          <a:prstGeom prst="roundRect">
            <a:avLst>
              <a:gd name="adj" fmla="val 4995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877" y="1889671"/>
            <a:ext cx="19240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░░░░ (fully empty)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4716" y="2173970"/>
            <a:ext cx="1281112" cy="309562"/>
          </a:xfrm>
          <a:prstGeom prst="roundRect">
            <a:avLst>
              <a:gd name="adj" fmla="val 4544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finds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59226" y="2173970"/>
            <a:ext cx="2119312" cy="309562"/>
          </a:xfrm>
          <a:prstGeom prst="roundRect">
            <a:avLst>
              <a:gd name="adj" fmla="val 4544"/>
            </a:avLst>
          </a:prstGeom>
          <a:solidFill>
            <a:srgbClr val="C0392B">
              <a:alpha val="2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6857" y="2240645"/>
            <a:ext cx="1924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The data ✗ Danger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03736" y="2173970"/>
            <a:ext cx="2119312" cy="309562"/>
          </a:xfrm>
          <a:prstGeom prst="roundRect">
            <a:avLst>
              <a:gd name="adj" fmla="val 4544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1367" y="2240645"/>
            <a:ext cx="1924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 data 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246" y="2173970"/>
            <a:ext cx="2119312" cy="309562"/>
          </a:xfrm>
          <a:prstGeom prst="roundRect">
            <a:avLst>
              <a:gd name="adj" fmla="val 4544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877" y="2240645"/>
            <a:ext cx="19240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Nothing ✓ Secure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7688" y="2536106"/>
            <a:ext cx="8048625" cy="285750"/>
          </a:xfrm>
          <a:prstGeom prst="roundRect">
            <a:avLst>
              <a:gd name="adj" fmla="val 5333"/>
            </a:avLst>
          </a:prstGeom>
          <a:solidFill>
            <a:srgbClr val="1B3A6B">
              <a:alpha val="30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563" y="2590874"/>
            <a:ext cx="77628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* v1.0 wipes main memory but leaves cache populated — the vulnerability remains exploitable via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Flush+Reload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42" name="Text 40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5 — Performance Comparison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CPU cycles to access data — More cycles = More secure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35" y="771525"/>
            <a:ext cx="5303565" cy="2000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6716" y="983047"/>
            <a:ext cx="2652713" cy="985838"/>
          </a:xfrm>
          <a:prstGeom prst="roundRect">
            <a:avLst>
              <a:gd name="adj" fmla="val 2689"/>
            </a:avLst>
          </a:prstGeom>
          <a:solidFill>
            <a:srgbClr val="C0392B">
              <a:alpha val="1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9591" y="1063749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v1 — Cache HIT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9591" y="1240594"/>
            <a:ext cx="236696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cycles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99591" y="1735782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Direct leak ✗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56716" y="2047168"/>
            <a:ext cx="2652713" cy="1038225"/>
          </a:xfrm>
          <a:prstGeom prst="roundRect">
            <a:avLst>
              <a:gd name="adj" fmla="val 2424"/>
            </a:avLst>
          </a:prstGeom>
          <a:solidFill>
            <a:srgbClr val="D4A017">
              <a:alpha val="10000"/>
            </a:srgbClr>
          </a:solidFill>
          <a:ln w="4763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9591" y="2127498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Improvement ratio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9591" y="2305273"/>
            <a:ext cx="2366963" cy="547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8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3.7×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99591" y="2852663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286 ÷ 78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56716" y="3163677"/>
            <a:ext cx="2652713" cy="985838"/>
          </a:xfrm>
          <a:prstGeom prst="roundRect">
            <a:avLst>
              <a:gd name="adj" fmla="val 2689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591" y="3244379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v2 — Cache MISS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99591" y="3421224"/>
            <a:ext cx="2366963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5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286</a:t>
            </a:r>
            <a:pPr algn="l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cycles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99591" y="3916412"/>
            <a:ext cx="2366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 blind ✓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56716" y="4226309"/>
            <a:ext cx="2652713" cy="295275"/>
          </a:xfrm>
          <a:prstGeom prst="roundRect">
            <a:avLst>
              <a:gd name="adj" fmla="val 7492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9591" y="4292984"/>
            <a:ext cx="2366963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hits </a:t>
            </a:r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RAM</a:t>
            </a:r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not cache — attack fails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6 — TID vs Existing Libraries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Security capabilities across industry solutions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84578" y="772344"/>
            <a:ext cx="2209800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Library / Solution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24723" y="772344"/>
            <a:ext cx="138588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Safe Memory Wipe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65984" y="772344"/>
            <a:ext cx="138588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CLFLUSH Flush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007245" y="772344"/>
            <a:ext cx="138588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LFENCE Barrier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8506" y="772344"/>
            <a:ext cx="138588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Verdict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7688" y="1028588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C0392B">
              <a:alpha val="10000"/>
            </a:srgbClr>
          </a:solidFill>
          <a:ln w="4763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9407" y="1033351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memset()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4386" y="1090464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*compiler may remove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0370" y="1085738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6354" y="1085738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2338" y="1090464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Unreliable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7688" y="1349983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D4A017">
              <a:alpha val="6000"/>
            </a:srgbClr>
          </a:solidFill>
          <a:ln w="4763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9407" y="1354745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explicit_bzero()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4386" y="1411858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80370" y="1407133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6354" y="1407133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2338" y="1411858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7688" y="1671377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D4A017">
              <a:alpha val="6000"/>
            </a:srgbClr>
          </a:solidFill>
          <a:ln w="4763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9407" y="1676140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memzero_explicit()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94386" y="1733252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0370" y="1728527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6354" y="1728527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2338" y="1733252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7688" y="1992771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D4A017">
              <a:alpha val="6000"/>
            </a:srgbClr>
          </a:solidFill>
          <a:ln w="4763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9407" y="1997534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OPENSSL_cleanse()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4386" y="2054647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0370" y="2049921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66354" y="2049921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2338" y="2054647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7688" y="2314166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D4A017">
              <a:alpha val="6000"/>
            </a:srgbClr>
          </a:solidFill>
          <a:ln w="4763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9407" y="2318928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sodium_memzero()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94386" y="2376041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0370" y="2371316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6354" y="2371316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2338" y="2376041"/>
            <a:ext cx="13430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7688" y="2636044"/>
            <a:ext cx="8048625" cy="333375"/>
          </a:xfrm>
          <a:prstGeom prst="roundRect">
            <a:avLst>
              <a:gd name="adj" fmla="val 3918"/>
            </a:avLst>
          </a:prstGeom>
          <a:solidFill>
            <a:srgbClr val="D4A017">
              <a:alpha val="12000"/>
            </a:srgbClr>
          </a:solidFill>
          <a:ln w="9525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440" y="2645569"/>
            <a:ext cx="2376487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► TID v2.0 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95689" y="2700338"/>
            <a:ext cx="13382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384" y="2700338"/>
            <a:ext cx="13382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71080" y="2700338"/>
            <a:ext cx="13382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8775" y="2714588"/>
            <a:ext cx="13382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Best software 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7688" y="3000784"/>
            <a:ext cx="8048625" cy="290513"/>
          </a:xfrm>
          <a:prstGeom prst="roundRect">
            <a:avLst>
              <a:gd name="adj" fmla="val 5160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09407" y="3005547"/>
            <a:ext cx="238125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 SGX (hardware)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94386" y="3057934"/>
            <a:ext cx="1343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80370" y="3069803"/>
            <a:ext cx="13430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Automatic ✓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966354" y="3069803"/>
            <a:ext cx="13430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Automatic ✓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52338" y="3069803"/>
            <a:ext cx="13430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Requires dedicated hardware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7688" y="3342010"/>
            <a:ext cx="80486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* 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memset()</a:t>
            </a:r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is optimized away by the compiler in many cases — a documented C/C++ vulnerability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56" name="Text 54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7 — Statistical Key Reconstruction Attack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Flush+Reload attack — TID v1 vs TID v2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901" y="770595"/>
            <a:ext cx="4205288" cy="3962400"/>
          </a:xfrm>
          <a:prstGeom prst="roundRect">
            <a:avLst>
              <a:gd name="adj" fmla="val 222"/>
            </a:avLst>
          </a:prstGeom>
          <a:solidFill>
            <a:srgbClr val="C0392B">
              <a:alpha val="8000"/>
            </a:srgbClr>
          </a:solidFill>
          <a:ln w="9525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158" y="882848"/>
            <a:ext cx="3914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162"/>
              </a:spcAft>
              <a:buNone/>
            </a:pPr>
            <a:r>
              <a:rPr lang="en-US" sz="8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Phase 1 — TID v1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09158" y="1068288"/>
            <a:ext cx="39147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not flushed — attack succeeds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174906" y="1298042"/>
            <a:ext cx="54768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33394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42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92292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87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51190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133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10088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13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09158" y="1506103"/>
            <a:ext cx="3914775" cy="195263"/>
          </a:xfrm>
          <a:prstGeom prst="roundRect">
            <a:avLst>
              <a:gd name="adj" fmla="val 856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174906" y="1506103"/>
            <a:ext cx="5476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33394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92292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51190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10088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absent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74906" y="1727113"/>
            <a:ext cx="5476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500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33394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92292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51190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10088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absent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809158" y="1948681"/>
            <a:ext cx="3914775" cy="338137"/>
          </a:xfrm>
          <a:prstGeom prst="roundRect">
            <a:avLst>
              <a:gd name="adj" fmla="val 28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174906" y="1948681"/>
            <a:ext cx="547687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1000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33394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92292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651190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present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10088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absent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09158" y="2312826"/>
            <a:ext cx="3914775" cy="519112"/>
          </a:xfrm>
          <a:prstGeom prst="roundRect">
            <a:avLst>
              <a:gd name="adj" fmla="val 6464"/>
            </a:avLst>
          </a:prstGeom>
          <a:solidFill>
            <a:srgbClr val="C0392B">
              <a:alpha val="15000"/>
            </a:srgbClr>
          </a:solidFill>
          <a:ln w="4763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7739" y="2358442"/>
            <a:ext cx="3757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122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Statistical accumulation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40179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987/1000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40179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key fragment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789465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991/1000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789465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key fragment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838751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978/1000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751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key fragment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88037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3/1000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88037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not in key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809158" y="2892437"/>
            <a:ext cx="3914775" cy="395287"/>
          </a:xfrm>
          <a:prstGeom prst="roundRect">
            <a:avLst>
              <a:gd name="adj" fmla="val 2787"/>
            </a:avLst>
          </a:prstGeom>
          <a:solidFill>
            <a:srgbClr val="C0392B">
              <a:alpha val="20000"/>
            </a:srgbClr>
          </a:solidFill>
          <a:ln w="4763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6789" y="2938165"/>
            <a:ext cx="371951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Key reconstructed byte by byte ✗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06789" y="3103327"/>
            <a:ext cx="37195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Successful attack on TID v1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737" y="770595"/>
            <a:ext cx="4205288" cy="3962400"/>
          </a:xfrm>
          <a:prstGeom prst="roundRect">
            <a:avLst>
              <a:gd name="adj" fmla="val 222"/>
            </a:avLst>
          </a:prstGeom>
          <a:solidFill>
            <a:srgbClr val="27AE60">
              <a:alpha val="6000"/>
            </a:srgbClr>
          </a:solidFill>
          <a:ln w="9525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9993" y="882848"/>
            <a:ext cx="3914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162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Phase 2 — TID v2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19993" y="1068288"/>
            <a:ext cx="39147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always empty — attack fails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785741" y="1298042"/>
            <a:ext cx="54768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944230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42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103127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87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62025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133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20923" y="1298042"/>
            <a:ext cx="7953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Slot 13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9993" y="1506103"/>
            <a:ext cx="3914775" cy="195263"/>
          </a:xfrm>
          <a:prstGeom prst="roundRect">
            <a:avLst>
              <a:gd name="adj" fmla="val 856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785741" y="1506103"/>
            <a:ext cx="5476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944230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03127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262025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20923" y="150610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85741" y="1727113"/>
            <a:ext cx="547687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500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944230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103127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262025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20923" y="1727113"/>
            <a:ext cx="795338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19993" y="1948681"/>
            <a:ext cx="3914775" cy="338137"/>
          </a:xfrm>
          <a:prstGeom prst="roundRect">
            <a:avLst>
              <a:gd name="adj" fmla="val 28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785741" y="1948681"/>
            <a:ext cx="547687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Probe 1000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944230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103127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262025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20923" y="1948681"/>
            <a:ext cx="795338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empty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9993" y="2312826"/>
            <a:ext cx="3914775" cy="519112"/>
          </a:xfrm>
          <a:prstGeom prst="roundRect">
            <a:avLst>
              <a:gd name="adj" fmla="val 6464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574" y="2358442"/>
            <a:ext cx="37576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122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Statistical accumulation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351014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0/1000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351014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 pattern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400300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0/1000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400300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 pattern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1449586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0/1000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449586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 pattern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498872" y="2510730"/>
            <a:ext cx="904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0/1000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98872" y="2662200"/>
            <a:ext cx="90487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 pattern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419993" y="2892437"/>
            <a:ext cx="3914775" cy="395287"/>
          </a:xfrm>
          <a:prstGeom prst="roundRect">
            <a:avLst>
              <a:gd name="adj" fmla="val 2787"/>
            </a:avLst>
          </a:prstGeom>
          <a:solidFill>
            <a:srgbClr val="27AE60">
              <a:alpha val="15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7624" y="2938165"/>
            <a:ext cx="371951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No pattern — No key — Attack failed ✓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7624" y="3103327"/>
            <a:ext cx="37195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empty — nothing to measure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84" name="Text 82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8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8 — Security Solution Ladder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Weakest to strongest — solution ranking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4826" y="771041"/>
            <a:ext cx="366712" cy="366712"/>
          </a:xfrm>
          <a:prstGeom prst="ellipse">
            <a:avLst/>
          </a:prstGeom>
          <a:solidFill>
            <a:srgbClr val="D4A017">
              <a:alpha val="20000"/>
            </a:srgbClr>
          </a:solidFill>
          <a:ln w="9525">
            <a:solidFill>
              <a:srgbClr val="D4A0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19095" y="1151930"/>
            <a:ext cx="63817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spcBef>
                <a:spcPts val="122"/>
              </a:spcBef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Dedicated Hardware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685354" y="770855"/>
            <a:ext cx="6996112" cy="642938"/>
          </a:xfrm>
          <a:prstGeom prst="roundRect">
            <a:avLst>
              <a:gd name="adj" fmla="val 6321"/>
            </a:avLst>
          </a:prstGeom>
          <a:solidFill>
            <a:srgbClr val="1B3A6B">
              <a:alpha val="25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7127" y="854125"/>
            <a:ext cx="279558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Intel SGX / AMD SEV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97127" y="1060028"/>
            <a:ext cx="27955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Dedicated hardware — Encrypted cache — Zero attack window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73398" y="887760"/>
            <a:ext cx="9144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Automatic 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73398" y="1038932"/>
            <a:ext cx="9144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flush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954826" y="1484375"/>
            <a:ext cx="366712" cy="366712"/>
          </a:xfrm>
          <a:prstGeom prst="ellipse">
            <a:avLst/>
          </a:prstGeom>
          <a:solidFill>
            <a:srgbClr val="27AE60">
              <a:alpha val="20000"/>
            </a:srgbClr>
          </a:solidFill>
          <a:ln w="9525">
            <a:solidFill>
              <a:srgbClr val="27AE6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4339" y="1866826"/>
            <a:ext cx="547687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spcBef>
                <a:spcPts val="122"/>
              </a:spcBef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Best Software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685354" y="1473882"/>
            <a:ext cx="6996112" cy="533400"/>
          </a:xfrm>
          <a:prstGeom prst="roundRect">
            <a:avLst>
              <a:gd name="adj" fmla="val 9184"/>
            </a:avLst>
          </a:prstGeom>
          <a:solidFill>
            <a:srgbClr val="27AE60">
              <a:alpha val="10000"/>
            </a:srgbClr>
          </a:solidFill>
          <a:ln w="9525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7364" y="1536018"/>
            <a:ext cx="766763" cy="166688"/>
          </a:xfrm>
          <a:prstGeom prst="roundRect">
            <a:avLst>
              <a:gd name="adj" fmla="val 11755"/>
            </a:avLst>
          </a:prstGeom>
          <a:solidFill>
            <a:srgbClr val="27AE60">
              <a:alpha val="20000"/>
            </a:srgbClr>
          </a:solidFill>
          <a:ln w="4763">
            <a:solidFill>
              <a:srgbClr val="27AE60">
                <a:alpha val="5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 You are here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54425" y="1562174"/>
            <a:ext cx="42338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► TID v2.0 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54425" y="1768078"/>
            <a:ext cx="42338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Wipe + CLFLUSHOPT + LFENCE/MFENCE — highest software level without dedicated hardware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78160" y="1595810"/>
            <a:ext cx="9144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Explicit 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78160" y="1746982"/>
            <a:ext cx="9144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flush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54826" y="2072841"/>
            <a:ext cx="366712" cy="366712"/>
          </a:xfrm>
          <a:prstGeom prst="ellipse">
            <a:avLst/>
          </a:prstGeom>
          <a:solidFill>
            <a:srgbClr val="D4A017">
              <a:alpha val="15000"/>
            </a:srgbClr>
          </a:solidFill>
          <a:ln w="9525">
            <a:solidFill>
              <a:srgbClr val="D4A017">
                <a:alpha val="5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26276" y="2455292"/>
            <a:ext cx="62388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spcBef>
                <a:spcPts val="122"/>
              </a:spcBef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Partial Software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685354" y="2067111"/>
            <a:ext cx="6996112" cy="523875"/>
          </a:xfrm>
          <a:prstGeom prst="roundRect">
            <a:avLst>
              <a:gd name="adj" fmla="val 9521"/>
            </a:avLst>
          </a:prstGeom>
          <a:solidFill>
            <a:srgbClr val="1B3A6B">
              <a:alpha val="25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6547" y="2150641"/>
            <a:ext cx="16668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libsodium / OpenSSL / glibc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26547" y="2356545"/>
            <a:ext cx="16668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Safe wipe of main memory only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73398" y="2184276"/>
            <a:ext cx="9144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Missing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73398" y="2335448"/>
            <a:ext cx="9144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flush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54826" y="2656545"/>
            <a:ext cx="366712" cy="366712"/>
          </a:xfrm>
          <a:prstGeom prst="ellipse">
            <a:avLst/>
          </a:prstGeom>
          <a:solidFill>
            <a:srgbClr val="C0392B">
              <a:alpha val="15000"/>
            </a:srgbClr>
          </a:solidFill>
          <a:ln w="9525">
            <a:solidFill>
              <a:srgbClr val="C0392B">
                <a:alpha val="5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38157" y="3038996"/>
            <a:ext cx="4000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spcBef>
                <a:spcPts val="122"/>
              </a:spcBef>
              <a:buNone/>
            </a:pPr>
            <a:r>
              <a:rPr lang="en-US" sz="6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Unreliable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85354" y="2650815"/>
            <a:ext cx="6996112" cy="523875"/>
          </a:xfrm>
          <a:prstGeom prst="roundRect">
            <a:avLst>
              <a:gd name="adj" fmla="val 9521"/>
            </a:avLst>
          </a:prstGeom>
          <a:solidFill>
            <a:srgbClr val="1B3A6B">
              <a:alpha val="25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7367" y="2734345"/>
            <a:ext cx="2005012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memset() standard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7367" y="2940248"/>
            <a:ext cx="20050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Compiler may remove — no actual guarantee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73398" y="2767980"/>
            <a:ext cx="9144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✗ Missing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3398" y="2919152"/>
            <a:ext cx="9144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flush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5800" y="3236230"/>
            <a:ext cx="7772400" cy="309562"/>
          </a:xfrm>
          <a:prstGeom prst="roundRect">
            <a:avLst>
              <a:gd name="adj" fmla="val 6817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919" y="3302905"/>
            <a:ext cx="73961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v2.0 is </a:t>
            </a:r>
            <a:pPr algn="ctr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the maximum achievable in software</a:t>
            </a:r>
            <a:pPr algn="ctr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without dedicated hardware — proven experimentally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39" name="Text 37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9 — Physical Minimum Latency of TID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53294"/>
            <a:ext cx="8229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203"/>
              </a:spcBef>
              <a:buNone/>
            </a:pPr>
            <a:r>
              <a:rPr lang="en-US" sz="10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Per-instruction timing — a physical constraint of the CPU itself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9419" y="821903"/>
            <a:ext cx="44386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405"/>
              </a:spcAft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Time in nanoseconds (ns)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9605" y="1038969"/>
            <a:ext cx="4438650" cy="1524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9419" y="2613608"/>
            <a:ext cx="4438650" cy="857250"/>
          </a:xfrm>
          <a:prstGeom prst="roundRect">
            <a:avLst>
              <a:gd name="adj" fmla="val 3556"/>
            </a:avLst>
          </a:prstGeom>
          <a:solidFill>
            <a:srgbClr val="D4A017">
              <a:alpha val="10000"/>
            </a:srgbClr>
          </a:solidFill>
          <a:ln w="9525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7056" y="2684859"/>
            <a:ext cx="41433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Total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487056" y="2837445"/>
            <a:ext cx="4143375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300–372</a:t>
            </a:r>
            <a:pPr algn="ctr" indent="0" marL="0">
              <a:lnSpc>
                <a:spcPts val="1620"/>
              </a:lnSpc>
              <a:buNone/>
            </a:pPr>
            <a:r>
              <a:rPr lang="en-US" sz="10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ns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487056" y="3247206"/>
            <a:ext cx="41433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Physical hardware minimum — proven experimentally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65113" y="823764"/>
            <a:ext cx="3700463" cy="566738"/>
          </a:xfrm>
          <a:prstGeom prst="roundRect">
            <a:avLst>
              <a:gd name="adj" fmla="val 6779"/>
            </a:avLst>
          </a:prstGeom>
          <a:solidFill>
            <a:srgbClr val="D4A017">
              <a:alpha val="8000"/>
            </a:srgbClr>
          </a:solidFill>
          <a:ln w="4763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55502" y="874998"/>
            <a:ext cx="219551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55502" y="1051471"/>
            <a:ext cx="21955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Execution barrier — blocks speculative execution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755502" y="1202643"/>
            <a:ext cx="2195513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Position: Start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0640" y="968983"/>
            <a:ext cx="54768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~40ns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113" y="1433215"/>
            <a:ext cx="3700463" cy="566738"/>
          </a:xfrm>
          <a:prstGeom prst="roundRect">
            <a:avLst>
              <a:gd name="adj" fmla="val 6779"/>
            </a:avLst>
          </a:prstGeom>
          <a:solidFill>
            <a:srgbClr val="2E4F8A">
              <a:alpha val="2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55366" y="1484449"/>
            <a:ext cx="14954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 STOSQ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455366" y="1660922"/>
            <a:ext cx="14954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Write zeros — wipe main memory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455366" y="1812094"/>
            <a:ext cx="14954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Position: Wipe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80640" y="1578434"/>
            <a:ext cx="54768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~50ns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5113" y="2042666"/>
            <a:ext cx="3700463" cy="566738"/>
          </a:xfrm>
          <a:prstGeom prst="roundRect">
            <a:avLst>
              <a:gd name="adj" fmla="val 6779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32422" y="2093900"/>
            <a:ext cx="14192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CLFLUSHOPT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32422" y="2270373"/>
            <a:ext cx="14192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Evict cache lines from L1/L2/L3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532422" y="2421545"/>
            <a:ext cx="14192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Position: Cache flush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80752" y="2187885"/>
            <a:ext cx="657225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~130ns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65113" y="2652117"/>
            <a:ext cx="3700463" cy="566738"/>
          </a:xfrm>
          <a:prstGeom prst="roundRect">
            <a:avLst>
              <a:gd name="adj" fmla="val 6779"/>
            </a:avLst>
          </a:prstGeom>
          <a:solidFill>
            <a:srgbClr val="D4A017">
              <a:alpha val="8000"/>
            </a:srgbClr>
          </a:solidFill>
          <a:ln w="4763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389436" y="2703351"/>
            <a:ext cx="15621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MFENCE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389436" y="2879824"/>
            <a:ext cx="15621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Guarantee all operations complete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389436" y="3030996"/>
            <a:ext cx="15621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Position: Completion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0640" y="2797336"/>
            <a:ext cx="54768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~40ns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5113" y="3261568"/>
            <a:ext cx="3700463" cy="566738"/>
          </a:xfrm>
          <a:prstGeom prst="roundRect">
            <a:avLst>
              <a:gd name="adj" fmla="val 6779"/>
            </a:avLst>
          </a:prstGeom>
          <a:solidFill>
            <a:srgbClr val="D4A017">
              <a:alpha val="8000"/>
            </a:srgbClr>
          </a:solidFill>
          <a:ln w="4763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68749" y="3312802"/>
            <a:ext cx="9810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LFENCE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968749" y="3489275"/>
            <a:ext cx="9810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Close the second side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968749" y="3640448"/>
            <a:ext cx="9810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6B7A9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Position: End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80640" y="3406787"/>
            <a:ext cx="547687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~40ns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113" y="3896320"/>
            <a:ext cx="3700463" cy="438150"/>
          </a:xfrm>
          <a:prstGeom prst="roundRect">
            <a:avLst>
              <a:gd name="adj" fmla="val 2836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>
                <a:alpha val="4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9413" y="3951089"/>
            <a:ext cx="3471863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The constraint is </a:t>
            </a:r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CPU physics</a:t>
            </a:r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itself, not code efficiency — measured value: </a:t>
            </a:r>
            <a:pPr algn="l" indent="0" marL="0">
              <a:lnSpc>
                <a:spcPts val="1267"/>
              </a:lnSpc>
              <a:buNone/>
            </a:pPr>
            <a:r>
              <a:rPr lang="en-US" sz="7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290–372ns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41" name="Text 38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966"/>
            <a:ext cx="82296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spcAft>
                <a:spcPts val="203"/>
              </a:spcAft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69987"/>
            <a:ext cx="8229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Diagram 10 — Experimental Proof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43285"/>
            <a:ext cx="8229600" cy="1809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EPYC 9B14 | Linux 6.14.11 | GCC 14.3.0 | 2599 MHz | 62.8 GiB RAM | -O2 -mclflushopt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6484" y="823987"/>
            <a:ext cx="2681288" cy="1633538"/>
          </a:xfrm>
          <a:prstGeom prst="roundRect">
            <a:avLst>
              <a:gd name="adj" fmla="val 1306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94253" y="929804"/>
            <a:ext cx="6953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894253" y="1097868"/>
            <a:ext cx="6953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Basic Attack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94253" y="1274341"/>
            <a:ext cx="6953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Flush+Reload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284528" y="931292"/>
            <a:ext cx="938212" cy="200025"/>
          </a:xfrm>
          <a:prstGeom prst="roundRect">
            <a:avLst>
              <a:gd name="adj" fmla="val 10884"/>
            </a:avLst>
          </a:prstGeom>
          <a:solidFill>
            <a:srgbClr val="2E4F8A">
              <a:alpha val="50000"/>
            </a:srgbClr>
          </a:solidFill>
          <a:ln w="4763">
            <a:solidFill>
              <a:srgbClr val="2E4F8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0728" y="955104"/>
            <a:ext cx="7858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1,000 samples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881789" y="1487500"/>
            <a:ext cx="709613" cy="576262"/>
          </a:xfrm>
          <a:prstGeom prst="roundRect">
            <a:avLst>
              <a:gd name="adj" fmla="val 524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955607" y="1528279"/>
            <a:ext cx="5619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607" y="1666094"/>
            <a:ext cx="5619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607" y="1884871"/>
            <a:ext cx="5619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cycles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082284" y="1487500"/>
            <a:ext cx="709613" cy="576262"/>
          </a:xfrm>
          <a:prstGeom prst="roundRect">
            <a:avLst>
              <a:gd name="adj" fmla="val 524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56103" y="1528279"/>
            <a:ext cx="5619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56103" y="1666094"/>
            <a:ext cx="5619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4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56103" y="1884871"/>
            <a:ext cx="5619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cycles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82779" y="1487500"/>
            <a:ext cx="709613" cy="576262"/>
          </a:xfrm>
          <a:prstGeom prst="roundRect">
            <a:avLst>
              <a:gd name="adj" fmla="val 524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56598" y="1528279"/>
            <a:ext cx="5619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Ratio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56598" y="1666094"/>
            <a:ext cx="5619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31393" y="823987"/>
            <a:ext cx="2681288" cy="1633538"/>
          </a:xfrm>
          <a:prstGeom prst="roundRect">
            <a:avLst>
              <a:gd name="adj" fmla="val 1306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8866" y="929804"/>
            <a:ext cx="8667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58866" y="1097868"/>
            <a:ext cx="8667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Timing Window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8866" y="1274341"/>
            <a:ext cx="8667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Timing Window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18656" y="931292"/>
            <a:ext cx="1000125" cy="200025"/>
          </a:xfrm>
          <a:prstGeom prst="roundRect">
            <a:avLst>
              <a:gd name="adj" fmla="val 10884"/>
            </a:avLst>
          </a:prstGeom>
          <a:solidFill>
            <a:srgbClr val="2E4F8A">
              <a:alpha val="50000"/>
            </a:srgbClr>
          </a:solidFill>
          <a:ln w="4763">
            <a:solidFill>
              <a:srgbClr val="2E4F8A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7238" y="955104"/>
            <a:ext cx="8429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10,000 samples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19512" y="1486905"/>
            <a:ext cx="2305050" cy="261937"/>
          </a:xfrm>
          <a:prstGeom prst="roundRect">
            <a:avLst>
              <a:gd name="adj" fmla="val 634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window</a:t>
            </a:r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372ns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19512" y="1788356"/>
            <a:ext cx="2305050" cy="261937"/>
          </a:xfrm>
          <a:prstGeom prst="roundRect">
            <a:avLst>
              <a:gd name="adj" fmla="val 634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probe</a:t>
            </a:r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19512" y="2089807"/>
            <a:ext cx="2305050" cy="261937"/>
          </a:xfrm>
          <a:prstGeom prst="roundRect">
            <a:avLst>
              <a:gd name="adj" fmla="val 634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Possible probes</a:t>
            </a:r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 only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6303" y="823987"/>
            <a:ext cx="2681288" cy="1633538"/>
          </a:xfrm>
          <a:prstGeom prst="roundRect">
            <a:avLst>
              <a:gd name="adj" fmla="val 1306"/>
            </a:avLst>
          </a:prstGeom>
          <a:solidFill>
            <a:srgbClr val="1B3A6B">
              <a:alpha val="40000"/>
            </a:srgbClr>
          </a:solidFill>
          <a:ln w="4763">
            <a:solidFill>
              <a:srgbClr val="2E4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8844" y="929804"/>
            <a:ext cx="6810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spcAft>
                <a:spcPts val="122"/>
              </a:spcAft>
              <a:buNone/>
            </a:pPr>
            <a:r>
              <a:rPr lang="en-US" sz="7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78844" y="1097868"/>
            <a:ext cx="68103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CPU Shield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78844" y="1274341"/>
            <a:ext cx="6810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CPU Hardening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54348" y="931292"/>
            <a:ext cx="938212" cy="200025"/>
          </a:xfrm>
          <a:prstGeom prst="roundRect">
            <a:avLst>
              <a:gd name="adj" fmla="val 10884"/>
            </a:avLst>
          </a:prstGeom>
          <a:solidFill>
            <a:srgbClr val="2E4F8A">
              <a:alpha val="50000"/>
            </a:srgbClr>
          </a:solidFill>
          <a:ln w="4763">
            <a:solidFill>
              <a:srgbClr val="2E4F8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548" y="955104"/>
            <a:ext cx="7858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5,000 samples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4422" y="1487239"/>
            <a:ext cx="2305050" cy="247650"/>
          </a:xfrm>
          <a:prstGeom prst="roundRect">
            <a:avLst>
              <a:gd name="adj" fmla="val 7101"/>
            </a:avLst>
          </a:prstGeom>
          <a:solidFill>
            <a:srgbClr val="27AE60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CPU Affinity</a:t>
            </a:r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4422" y="1775073"/>
            <a:ext cx="2305050" cy="247650"/>
          </a:xfrm>
          <a:prstGeom prst="roundRect">
            <a:avLst>
              <a:gd name="adj" fmla="val 7101"/>
            </a:avLst>
          </a:prstGeom>
          <a:solidFill>
            <a:srgbClr val="27AE60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mlock</a:t>
            </a:r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4422" y="2062907"/>
            <a:ext cx="2305050" cy="247650"/>
          </a:xfrm>
          <a:prstGeom prst="roundRect">
            <a:avLst>
              <a:gd name="adj" fmla="val 7101"/>
            </a:avLst>
          </a:prstGeom>
          <a:solidFill>
            <a:srgbClr val="D4A017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SCHED_FIFO</a:t>
            </a:r>
            <a:pPr algn="l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D4A0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requires root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6713" y="2561295"/>
            <a:ext cx="8410575" cy="852488"/>
          </a:xfrm>
          <a:prstGeom prst="roundRect">
            <a:avLst>
              <a:gd name="adj" fmla="val 4794"/>
            </a:avLst>
          </a:prstGeom>
          <a:solidFill>
            <a:srgbClr val="27AE60">
              <a:alpha val="10000"/>
            </a:srgbClr>
          </a:solidFill>
          <a:ln w="9525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081" y="2673400"/>
            <a:ext cx="7843838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Experimentally Verified Final Result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45883" y="2972395"/>
            <a:ext cx="184785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TID v2.0 defeats Flush+Reload after use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66309" y="2972395"/>
            <a:ext cx="4763" cy="328613"/>
          </a:xfrm>
          <a:prstGeom prst="rect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529236" y="2972395"/>
            <a:ext cx="25622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measures and finds zero — no pattern — no key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49625" y="2972395"/>
            <a:ext cx="4763" cy="328613"/>
          </a:xfrm>
          <a:prstGeom prst="rect">
            <a:avLst/>
          </a:prstGeom>
          <a:solidFill>
            <a:srgbClr val="27AE60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50491" y="2972395"/>
            <a:ext cx="23241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Maximum achievable in software without SGX/SEV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851871"/>
            <a:ext cx="9144000" cy="290513"/>
          </a:xfrm>
          <a:prstGeom prst="rect">
            <a:avLst/>
          </a:prstGeom>
          <a:ln/>
        </p:spPr>
      </p:sp>
      <p:sp>
        <p:nvSpPr>
          <p:cNvPr id="50" name="Text 48"/>
          <p:cNvSpPr/>
          <p:nvPr/>
        </p:nvSpPr>
        <p:spPr>
          <a:xfrm>
            <a:off x="8159204" y="4916165"/>
            <a:ext cx="5286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v2.0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6530" y="4916165"/>
            <a:ext cx="169068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800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851871"/>
            <a:ext cx="914400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90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24450"/>
            <a:ext cx="9144000" cy="19050"/>
          </a:xfrm>
          <a:prstGeom prst="rect">
            <a:avLst/>
          </a:prstGeom>
          <a:solidFill>
            <a:srgbClr val="D4A017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" cy="1028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1375" y="1367024"/>
            <a:ext cx="2381250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8EDF5"/>
                </a:solidFill>
                <a:highlight>
                  <a:srgbClr val="D4A017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THE INSTANT DESTROYER</a:t>
            </a:r>
            <a:endParaRPr lang="en-US" sz="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0" y="1727895"/>
            <a:ext cx="2743200" cy="47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25430" y="1885913"/>
            <a:ext cx="1624012" cy="871538"/>
          </a:xfrm>
          <a:prstGeom prst="roundRect">
            <a:avLst>
              <a:gd name="adj" fmla="val 4587"/>
            </a:avLst>
          </a:prstGeom>
          <a:solidFill>
            <a:srgbClr val="1B3A6B">
              <a:alpha val="5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58793" y="1993776"/>
            <a:ext cx="115728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Destruction Window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758793" y="2171588"/>
            <a:ext cx="1157288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372ns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5758793" y="2511214"/>
            <a:ext cx="11572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Physical hardware minimum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732237" y="1885913"/>
            <a:ext cx="1519238" cy="871538"/>
          </a:xfrm>
          <a:prstGeom prst="roundRect">
            <a:avLst>
              <a:gd name="adj" fmla="val 4587"/>
            </a:avLst>
          </a:prstGeom>
          <a:solidFill>
            <a:srgbClr val="1B3A6B">
              <a:alpha val="5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65600" y="1993776"/>
            <a:ext cx="105251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Protection Ratio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965600" y="2171588"/>
            <a:ext cx="1052512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27AE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3.7×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965600" y="2511214"/>
            <a:ext cx="10525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Attacker access overhead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1992995" y="1885913"/>
            <a:ext cx="1466850" cy="871538"/>
          </a:xfrm>
          <a:prstGeom prst="roundRect">
            <a:avLst>
              <a:gd name="adj" fmla="val 4587"/>
            </a:avLst>
          </a:prstGeom>
          <a:solidFill>
            <a:srgbClr val="1B3A6B">
              <a:alpha val="50000"/>
            </a:srgbClr>
          </a:solidFill>
          <a:ln w="4763">
            <a:solidFill>
              <a:srgbClr val="2E4F8A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26357" y="1993776"/>
            <a:ext cx="100012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Security Level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226357" y="2171588"/>
            <a:ext cx="1000125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5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②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2226357" y="2511214"/>
            <a:ext cx="100012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spcBef>
                <a:spcPts val="162"/>
              </a:spcBef>
              <a:buNone/>
            </a:pPr>
            <a:r>
              <a:rPr lang="en-US" sz="700" dirty="0">
                <a:solidFill>
                  <a:srgbClr val="7A8B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Maximum software level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2743200" y="2910706"/>
            <a:ext cx="36576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03"/>
              </a:spcAft>
              <a:buNone/>
            </a:pPr>
            <a:r>
              <a:rPr lang="en-US" sz="1800" b="1" dirty="0">
                <a:solidFill>
                  <a:srgbClr val="E8ED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Ahmad Qasim Mohammad Hassan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586176" y="3278237"/>
            <a:ext cx="17097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D4A0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ORCID: </a:t>
            </a:r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0009-0001-4360-0802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306416" y="3309193"/>
            <a:ext cx="4763" cy="104775"/>
          </a:xfrm>
          <a:prstGeom prst="rect">
            <a:avLst/>
          </a:prstGeom>
          <a:solidFill>
            <a:srgbClr val="7A8BA8">
              <a:alpha val="3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2846859" y="3278237"/>
            <a:ext cx="11858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A8B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 Project — 2026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997994" y="3520529"/>
            <a:ext cx="3148012" cy="257175"/>
          </a:xfrm>
          <a:prstGeom prst="roundRect">
            <a:avLst>
              <a:gd name="adj" fmla="val 6584"/>
            </a:avLst>
          </a:prstGeom>
          <a:solidFill>
            <a:srgbClr val="27AE60">
              <a:alpha val="10000"/>
            </a:srgbClr>
          </a:solidFill>
          <a:ln w="4763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183731" y="3565773"/>
            <a:ext cx="27765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Cache empty — Memory clean — Attacker finds nothing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2026-05-08T13:27:49Z</dcterms:created>
  <dcterms:modified xsi:type="dcterms:W3CDTF">2026-05-08T13:27:49Z</dcterms:modified>
</cp:coreProperties>
</file>